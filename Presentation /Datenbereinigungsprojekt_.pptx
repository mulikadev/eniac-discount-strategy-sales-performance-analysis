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Plus Jakarta Sans"/>
      <p:regular r:id="rId16"/>
      <p:bold r:id="rId17"/>
      <p:italic r:id="rId18"/>
      <p:boldItalic r:id="rId19"/>
    </p:embeddedFont>
    <p:embeddedFont>
      <p:font typeface="Plus Jakarta Sans Light"/>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Light-regular.fntdata"/><Relationship Id="rId11" Type="http://schemas.openxmlformats.org/officeDocument/2006/relationships/slide" Target="slides/slide6.xml"/><Relationship Id="rId22" Type="http://schemas.openxmlformats.org/officeDocument/2006/relationships/font" Target="fonts/PlusJakartaSansLight-italic.fntdata"/><Relationship Id="rId10" Type="http://schemas.openxmlformats.org/officeDocument/2006/relationships/slide" Target="slides/slide5.xml"/><Relationship Id="rId21" Type="http://schemas.openxmlformats.org/officeDocument/2006/relationships/font" Target="fonts/PlusJakartaSansLight-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PlusJakartaSans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usJakartaSans-bold.fntdata"/><Relationship Id="rId16" Type="http://schemas.openxmlformats.org/officeDocument/2006/relationships/font" Target="fonts/PlusJakartaSans-regular.fntdata"/><Relationship Id="rId5" Type="http://schemas.openxmlformats.org/officeDocument/2006/relationships/notesMaster" Target="notesMasters/notesMaster1.xml"/><Relationship Id="rId19" Type="http://schemas.openxmlformats.org/officeDocument/2006/relationships/font" Target="fonts/PlusJakartaSans-boldItalic.fntdata"/><Relationship Id="rId6" Type="http://schemas.openxmlformats.org/officeDocument/2006/relationships/slide" Target="slides/slide1.xml"/><Relationship Id="rId18" Type="http://schemas.openxmlformats.org/officeDocument/2006/relationships/font" Target="fonts/PlusJakarta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4fd5b22a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Font typeface="Arial"/>
              <a:buNone/>
            </a:pPr>
            <a:r>
              <a:rPr lang="en-US">
                <a:solidFill>
                  <a:schemeClr val="dk1"/>
                </a:solidFill>
              </a:rPr>
              <a:t>Unsere Analyse basiert auf </a:t>
            </a:r>
            <a:r>
              <a:rPr b="1" lang="en-US">
                <a:solidFill>
                  <a:schemeClr val="dk1"/>
                </a:solidFill>
              </a:rPr>
              <a:t>39.952 validen Transaktionen</a:t>
            </a:r>
            <a:r>
              <a:rPr lang="en-US">
                <a:solidFill>
                  <a:schemeClr val="dk1"/>
                </a:solidFill>
              </a:rPr>
              <a:t> – das sind </a:t>
            </a:r>
            <a:r>
              <a:rPr b="1" lang="en-US">
                <a:solidFill>
                  <a:schemeClr val="dk1"/>
                </a:solidFill>
              </a:rPr>
              <a:t>85,7 %</a:t>
            </a:r>
            <a:r>
              <a:rPr lang="en-US">
                <a:solidFill>
                  <a:schemeClr val="dk1"/>
                </a:solidFill>
              </a:rPr>
              <a:t> aller abgeschlossenen Käufe. Wir haben uns bewusst auf diese saubere Datenbasis konzentriert, um Rauschen durch abgebrochene Bestellungen auszuschließen und fundierte, verlässliche Entscheidungen zu treffen.</a:t>
            </a:r>
            <a:endParaRPr sz="800"/>
          </a:p>
        </p:txBody>
      </p:sp>
      <p:sp>
        <p:nvSpPr>
          <p:cNvPr id="92" name="Google Shape;92;g3f4fd5b22ad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 diesen Daten haben wir die folgende</a:t>
            </a:r>
            <a:r>
              <a:rPr lang="en-US"/>
              <a:t> Empfehlung abgeleitet: Wir brauchen eine strategische Neuausrichtung. Weg vom pauschalen Rabattieren, hin zu einem fokussierten Ansatz. Wir müssen unsere Rabatt-Budgets dort einsetzen, wo sie wirklich einen positiven Effekt auf den Absatz haben und nicht auf die volle Bandbreite an Produkten.</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solidFill>
                  <a:schemeClr val="dk1"/>
                </a:solidFill>
              </a:rPr>
              <a:t>Um unser Sortiment präzise zu analysieren, haben wir die Produkte anhand der im Datensatz angegebenen Types in Kategorien ausgewertet. Ein Blick auf die Top-10-Umsatzbringer zeigt dabei ein deutliches Bild: Rabatte sind bei uns mittlerweile zum Standard geworden. Der reguläre Verkaufspreis – hier in Orange zu sehen – spielt in der Praxis kaum noch eine Rolle. Das ist kritisch, denn damit schwächen wir langfristig unsere Markenwahrnehmung und setzen unsere Margen unnötig unter Druck.</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Die Daten sind eindeutig: Höhere Rabatte führen nicht automatisch zu mehr Umsatz. Ab einer Rabattstufe von 30 % halbiert sich der durchschnittliche Umsatz pro Transaktion nahezu. Das bedeutet, wir geben massiv Marge ab, ohne einen entsprechenden Gegenwert im Gesamtumsatz zu erhalten.</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solidFill>
                  <a:schemeClr val="dk1"/>
                </a:solidFill>
              </a:rPr>
              <a:t>Ein wichtiges Ergebnis vorab: Höhere Rabatte führen nicht automatisch zu mehr Umsatz. Unsere stärksten Monate im November und Dezember waren durch das Weihnachtsgeschäft getrieben, nicht durch hohe Preisnachlässe. Dass Rabatte allein keinen Erfolg garantieren, zeigt der Juli: Mit 26 Prozent Rabatt war der Umsatz geringer als in anderen Monaten. Wir haben gelernt, dass alles über 22 Prozent Rabatt uns keinen Mehrumsatz bringt, sondern nur Marge kostet. Wir sollten deshalb aufhören, die Nachfrage mit Rabatten zu erzwingen, wenn der Markt sie nicht hergibt.</a:t>
            </a:r>
            <a:endParaRPr sz="1150">
              <a:solidFill>
                <a:srgbClr val="1D1C1D"/>
              </a:solidFill>
              <a:highlight>
                <a:srgbClr val="F8F8F8"/>
              </a:highlight>
            </a:endParaRPr>
          </a:p>
        </p:txBody>
      </p:sp>
      <p:sp>
        <p:nvSpPr>
          <p:cNvPr id="130" name="Google Shape;13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48855b1a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48855b1aa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48855b1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Dies hier sind die Kategorien, die das Rückgrat unseres Umsatzes bilden. Sie sind unsere Priorität für die kommende Pricing-Strategie. Hier müssen wir die Margen besonders genau optimieren, da sie den größten Hebel für unser Gesamtergebnis haben. Besonders die zwei obersten Kategorien, also Sotrage und Iphones machen besonders viel Gesamtumsatz aus.</a:t>
            </a:r>
            <a:endParaRPr/>
          </a:p>
        </p:txBody>
      </p:sp>
      <p:sp>
        <p:nvSpPr>
          <p:cNvPr id="148" name="Google Shape;148;g3f48855b1a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solidFill>
                  <a:schemeClr val="dk1"/>
                </a:solidFill>
              </a:rPr>
              <a:t>Wir haben untersucht, wie stark der Absatz der verschiedenen Kategorien auf Rabatte reagiert. Dabei haben wir zwei Gruppen identifiziert: Bei den ‚Wachstumshebeln‘ in Orange – wie Kopfhörern – steigt der Absatz durch Rabatte deutlich an. Hier ist unser Budget gut investiert. Bei den ‚Margen-Schützern‘ in Grau – wie Ipads – ändert der Rabatt jedoch nichts am Kaufverhalten; hier verschenken wir mit jedem Prozentpunkt nur Gewinn. Unsere Konsequenz: Wir schichten unsere Rabatt-Budgets gezielt um. Wir geben Gas, wo die Kunden darauf reagieren, und bleiben dort stabil, wo der Rabatt keine Wirkung zeigt.</a:t>
            </a:r>
            <a:endParaRPr/>
          </a:p>
        </p:txBody>
      </p:sp>
      <p:sp>
        <p:nvSpPr>
          <p:cNvPr id="157" name="Google Shape;157;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4fd5b22a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Zum Abschluss unser Plan: Wir machen Schluss mit dem Gießkannen-Prinzip.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Gezielt statt pauschal:</a:t>
            </a:r>
            <a:r>
              <a:rPr lang="en-US">
                <a:solidFill>
                  <a:schemeClr val="dk1"/>
                </a:solidFill>
              </a:rPr>
              <a:t> Wir geben Rabatte nur dort, wo sie uns wirklich mehr Verkäufe bringen.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Gewinn schützen:</a:t>
            </a:r>
            <a:r>
              <a:rPr lang="en-US">
                <a:solidFill>
                  <a:schemeClr val="dk1"/>
                </a:solidFill>
              </a:rPr>
              <a:t> Wo Rabatte nichts bringen, bleiben wir beim Preis stabil.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Wichtig:</a:t>
            </a:r>
            <a:r>
              <a:rPr lang="en-US">
                <a:solidFill>
                  <a:schemeClr val="dk1"/>
                </a:solidFill>
              </a:rPr>
              <a:t> Das heißt natürlich nicht, dass wir gar keine Rabatte mehr geben. Wenn wir Platz im Lager brauchen oder ein Modell ausläuft (Ausverkaufs-Rabatte), werden wir das natürlich weiterhin machen. Aber das machen wir dann ganz gezielt für diese Zwecke und nicht mehr als Dauerzustand für das ganze Sortiment.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Damit erhöhen wir unsere Gewinne und hören auf, Geld zu verschenken.</a:t>
            </a:r>
            <a:endParaRPr>
              <a:solidFill>
                <a:schemeClr val="dk1"/>
              </a:solidFill>
            </a:endParaRPr>
          </a:p>
        </p:txBody>
      </p:sp>
      <p:sp>
        <p:nvSpPr>
          <p:cNvPr id="167" name="Google Shape;167;g3f4fd5b22ad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4557712" y="952500"/>
            <a:ext cx="3076500" cy="231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4B5563"/>
                </a:solidFill>
                <a:latin typeface="Plus Jakarta Sans"/>
                <a:ea typeface="Plus Jakarta Sans"/>
                <a:cs typeface="Plus Jakarta Sans"/>
                <a:sym typeface="Plus Jakarta Sans"/>
              </a:rPr>
              <a:t>STRATEGI</a:t>
            </a:r>
            <a:r>
              <a:rPr b="1" lang="en-US" sz="1500">
                <a:solidFill>
                  <a:srgbClr val="4B5563"/>
                </a:solidFill>
                <a:latin typeface="Plus Jakarta Sans"/>
                <a:ea typeface="Plus Jakarta Sans"/>
                <a:cs typeface="Plus Jakarta Sans"/>
                <a:sym typeface="Plus Jakarta Sans"/>
              </a:rPr>
              <a:t>C </a:t>
            </a:r>
            <a:r>
              <a:rPr b="1" i="0" lang="en-US" sz="1500" u="none" cap="none" strike="noStrike">
                <a:solidFill>
                  <a:srgbClr val="4B5563"/>
                </a:solidFill>
                <a:latin typeface="Plus Jakarta Sans"/>
                <a:ea typeface="Plus Jakarta Sans"/>
                <a:cs typeface="Plus Jakarta Sans"/>
                <a:sym typeface="Plus Jakarta Sans"/>
              </a:rPr>
              <a:t>ANALYS</a:t>
            </a:r>
            <a:r>
              <a:rPr b="1" lang="en-US" sz="1500">
                <a:solidFill>
                  <a:srgbClr val="4B5563"/>
                </a:solidFill>
                <a:latin typeface="Plus Jakarta Sans"/>
                <a:ea typeface="Plus Jakarta Sans"/>
                <a:cs typeface="Plus Jakarta Sans"/>
                <a:sym typeface="Plus Jakarta Sans"/>
              </a:rPr>
              <a:t>IS</a:t>
            </a:r>
            <a:endParaRPr/>
          </a:p>
        </p:txBody>
      </p:sp>
      <p:sp>
        <p:nvSpPr>
          <p:cNvPr id="86" name="Google Shape;86;p13"/>
          <p:cNvSpPr txBox="1"/>
          <p:nvPr/>
        </p:nvSpPr>
        <p:spPr>
          <a:xfrm>
            <a:off x="1470300" y="1428750"/>
            <a:ext cx="9202200" cy="1223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7950">
                <a:solidFill>
                  <a:srgbClr val="111827"/>
                </a:solidFill>
                <a:latin typeface="Plus Jakarta Sans"/>
                <a:ea typeface="Plus Jakarta Sans"/>
                <a:cs typeface="Plus Jakarta Sans"/>
                <a:sym typeface="Plus Jakarta Sans"/>
              </a:rPr>
              <a:t>Discount Strategie</a:t>
            </a:r>
            <a:endParaRPr sz="1100"/>
          </a:p>
        </p:txBody>
      </p:sp>
      <p:sp>
        <p:nvSpPr>
          <p:cNvPr id="87" name="Google Shape;87;p13"/>
          <p:cNvSpPr/>
          <p:nvPr/>
        </p:nvSpPr>
        <p:spPr>
          <a:xfrm>
            <a:off x="5905500" y="3124200"/>
            <a:ext cx="381000" cy="28575"/>
          </a:xfrm>
          <a:prstGeom prst="rect">
            <a:avLst/>
          </a:prstGeom>
          <a:solidFill>
            <a:srgbClr val="11182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3025076" y="3781425"/>
            <a:ext cx="6757200" cy="719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950">
                <a:solidFill>
                  <a:srgbClr val="6B7280"/>
                </a:solidFill>
                <a:latin typeface="Plus Jakarta Sans Light"/>
                <a:ea typeface="Plus Jakarta Sans Light"/>
                <a:cs typeface="Plus Jakarta Sans Light"/>
                <a:sym typeface="Plus Jakarta Sans Light"/>
              </a:rPr>
              <a:t>Vom Gießkannen-Prinzip zur gezielten Steuerung.</a:t>
            </a:r>
            <a:endParaRPr b="0" i="0" sz="1950" u="none" cap="none" strike="noStrike">
              <a:solidFill>
                <a:srgbClr val="6B7280"/>
              </a:solidFill>
              <a:latin typeface="Plus Jakarta Sans Light"/>
              <a:ea typeface="Plus Jakarta Sans Light"/>
              <a:cs typeface="Plus Jakarta Sans Light"/>
              <a:sym typeface="Plus Jakarta Sans Light"/>
            </a:endParaRPr>
          </a:p>
          <a:p>
            <a:pPr indent="0" lvl="0" marL="0" marR="0" rtl="0" algn="ctr">
              <a:lnSpc>
                <a:spcPct val="150000"/>
              </a:lnSpc>
              <a:spcBef>
                <a:spcPts val="0"/>
              </a:spcBef>
              <a:spcAft>
                <a:spcPts val="0"/>
              </a:spcAft>
              <a:buNone/>
            </a:pPr>
            <a:r>
              <a:rPr lang="en-US" sz="1750" u="sng">
                <a:solidFill>
                  <a:schemeClr val="accent6"/>
                </a:solidFill>
                <a:latin typeface="Plus Jakarta Sans Light"/>
                <a:ea typeface="Plus Jakarta Sans Light"/>
                <a:cs typeface="Plus Jakarta Sans Light"/>
                <a:sym typeface="Plus Jakarta Sans Light"/>
              </a:rPr>
              <a:t>Team Igor, Joëlle, Tim</a:t>
            </a:r>
            <a:endParaRPr sz="1750" u="sng">
              <a:solidFill>
                <a:schemeClr val="accent6"/>
              </a:solidFill>
              <a:latin typeface="Plus Jakarta Sans Light"/>
              <a:ea typeface="Plus Jakarta Sans Light"/>
              <a:cs typeface="Plus Jakarta Sans Light"/>
              <a:sym typeface="Plus Jakarta Sans Light"/>
            </a:endParaRPr>
          </a:p>
        </p:txBody>
      </p:sp>
      <p:pic>
        <p:nvPicPr>
          <p:cNvPr id="89" name="Google Shape;89;p13"/>
          <p:cNvPicPr preferRelativeResize="0"/>
          <p:nvPr/>
        </p:nvPicPr>
        <p:blipFill>
          <a:blip r:embed="rId4">
            <a:alphaModFix/>
          </a:blip>
          <a:stretch>
            <a:fillRect/>
          </a:stretch>
        </p:blipFill>
        <p:spPr>
          <a:xfrm>
            <a:off x="10299805" y="330097"/>
            <a:ext cx="1139417" cy="285750"/>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952500" y="2528887"/>
            <a:ext cx="10287000" cy="2952750"/>
          </a:xfrm>
          <a:prstGeom prst="rect">
            <a:avLst/>
          </a:prstGeom>
          <a:noFill/>
          <a:ln>
            <a:noFill/>
          </a:ln>
        </p:spPr>
      </p:pic>
      <p:sp>
        <p:nvSpPr>
          <p:cNvPr id="96" name="Google Shape;96;p14"/>
          <p:cNvSpPr txBox="1"/>
          <p:nvPr/>
        </p:nvSpPr>
        <p:spPr>
          <a:xfrm>
            <a:off x="1381125" y="2909875"/>
            <a:ext cx="10287000" cy="861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11827"/>
                </a:solidFill>
                <a:latin typeface="Plus Jakarta Sans"/>
                <a:ea typeface="Plus Jakarta Sans"/>
                <a:cs typeface="Plus Jakarta Sans"/>
                <a:sym typeface="Plus Jakarta Sans"/>
              </a:rPr>
              <a:t>Unsere Empfehlung basiert auf  85,72 % der relevanten Daten</a:t>
            </a:r>
            <a:endParaRPr sz="600">
              <a:solidFill>
                <a:schemeClr val="dk1"/>
              </a:solidFill>
            </a:endParaRPr>
          </a:p>
        </p:txBody>
      </p:sp>
      <p:sp>
        <p:nvSpPr>
          <p:cNvPr id="97" name="Google Shape;97;p14"/>
          <p:cNvSpPr txBox="1"/>
          <p:nvPr/>
        </p:nvSpPr>
        <p:spPr>
          <a:xfrm>
            <a:off x="1381125" y="4030096"/>
            <a:ext cx="8572500" cy="750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950">
                <a:solidFill>
                  <a:srgbClr val="374151"/>
                </a:solidFill>
                <a:latin typeface="Plus Jakarta Sans"/>
                <a:ea typeface="Plus Jakarta Sans"/>
                <a:cs typeface="Plus Jakarta Sans"/>
                <a:sym typeface="Plus Jakarta Sans"/>
              </a:rPr>
              <a:t>Zur Sicherstellung einer validen Datenbasis wurden die übrigen Daten im Zuge der Bereinigung gekürzt.</a:t>
            </a:r>
            <a:endParaRPr sz="1950">
              <a:solidFill>
                <a:srgbClr val="374151"/>
              </a:solidFill>
              <a:latin typeface="Plus Jakarta Sans"/>
              <a:ea typeface="Plus Jakarta Sans"/>
              <a:cs typeface="Plus Jakarta Sans"/>
              <a:sym typeface="Plus Jakarta Sans"/>
            </a:endParaRPr>
          </a:p>
        </p:txBody>
      </p:sp>
      <p:sp>
        <p:nvSpPr>
          <p:cNvPr id="98" name="Google Shape;98;p14"/>
          <p:cNvSpPr txBox="1"/>
          <p:nvPr/>
        </p:nvSpPr>
        <p:spPr>
          <a:xfrm>
            <a:off x="952500" y="762000"/>
            <a:ext cx="52947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Unser </a:t>
            </a:r>
            <a:r>
              <a:rPr b="1" lang="en-US" sz="3600">
                <a:solidFill>
                  <a:schemeClr val="accent6"/>
                </a:solidFill>
                <a:latin typeface="Plus Jakarta Sans"/>
                <a:ea typeface="Plus Jakarta Sans"/>
                <a:cs typeface="Plus Jakarta Sans"/>
                <a:sym typeface="Plus Jakarta Sans"/>
              </a:rPr>
              <a:t>Datensatz</a:t>
            </a:r>
            <a:endParaRPr>
              <a:solidFill>
                <a:schemeClr val="accent6"/>
              </a:solidFill>
            </a:endParaRPr>
          </a:p>
        </p:txBody>
      </p:sp>
      <p:pic>
        <p:nvPicPr>
          <p:cNvPr id="99" name="Google Shape;99;p14"/>
          <p:cNvPicPr preferRelativeResize="0"/>
          <p:nvPr/>
        </p:nvPicPr>
        <p:blipFill>
          <a:blip r:embed="rId5">
            <a:alphaModFix/>
          </a:blip>
          <a:stretch>
            <a:fillRect/>
          </a:stretch>
        </p:blipFill>
        <p:spPr>
          <a:xfrm>
            <a:off x="10299805" y="330097"/>
            <a:ext cx="1139417" cy="285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pic>
        <p:nvPicPr>
          <p:cNvPr descr="image.png" id="104" name="Google Shape;10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 name="Google Shape;105;p15"/>
          <p:cNvPicPr preferRelativeResize="0"/>
          <p:nvPr/>
        </p:nvPicPr>
        <p:blipFill rotWithShape="1">
          <a:blip r:embed="rId4">
            <a:alphaModFix/>
          </a:blip>
          <a:srcRect b="0" l="0" r="0" t="0"/>
          <a:stretch/>
        </p:blipFill>
        <p:spPr>
          <a:xfrm>
            <a:off x="952500" y="2528887"/>
            <a:ext cx="10287000" cy="2952750"/>
          </a:xfrm>
          <a:prstGeom prst="rect">
            <a:avLst/>
          </a:prstGeom>
          <a:noFill/>
          <a:ln>
            <a:noFill/>
          </a:ln>
        </p:spPr>
      </p:pic>
      <p:sp>
        <p:nvSpPr>
          <p:cNvPr id="106" name="Google Shape;106;p15"/>
          <p:cNvSpPr txBox="1"/>
          <p:nvPr/>
        </p:nvSpPr>
        <p:spPr>
          <a:xfrm>
            <a:off x="1381125" y="2909887"/>
            <a:ext cx="99513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Strategische</a:t>
            </a:r>
            <a:r>
              <a:rPr b="1" lang="en-US" sz="3600">
                <a:solidFill>
                  <a:schemeClr val="dk1"/>
                </a:solidFill>
                <a:latin typeface="Plus Jakarta Sans"/>
                <a:ea typeface="Plus Jakarta Sans"/>
                <a:cs typeface="Plus Jakarta Sans"/>
                <a:sym typeface="Plus Jakarta Sans"/>
              </a:rPr>
              <a:t> Neuausrichtung</a:t>
            </a:r>
            <a:endParaRPr>
              <a:solidFill>
                <a:schemeClr val="dk1"/>
              </a:solidFill>
            </a:endParaRPr>
          </a:p>
        </p:txBody>
      </p:sp>
      <p:sp>
        <p:nvSpPr>
          <p:cNvPr id="107" name="Google Shape;107;p15"/>
          <p:cNvSpPr txBox="1"/>
          <p:nvPr/>
        </p:nvSpPr>
        <p:spPr>
          <a:xfrm>
            <a:off x="1381125" y="3738562"/>
            <a:ext cx="8572500" cy="750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950">
                <a:solidFill>
                  <a:srgbClr val="374151"/>
                </a:solidFill>
                <a:latin typeface="Plus Jakarta Sans"/>
                <a:ea typeface="Plus Jakarta Sans"/>
                <a:cs typeface="Plus Jakarta Sans"/>
                <a:sym typeface="Plus Jakarta Sans"/>
              </a:rPr>
              <a:t>Wie empfehlen eine gezieltere Discount Strategie. Wir sollten unsere Rabatte auf bestimmte Produkte fokussieren.</a:t>
            </a:r>
            <a:endParaRPr/>
          </a:p>
        </p:txBody>
      </p:sp>
      <p:sp>
        <p:nvSpPr>
          <p:cNvPr id="108" name="Google Shape;108;p15"/>
          <p:cNvSpPr txBox="1"/>
          <p:nvPr/>
        </p:nvSpPr>
        <p:spPr>
          <a:xfrm>
            <a:off x="952500" y="762000"/>
            <a:ext cx="52947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Unsere </a:t>
            </a:r>
            <a:r>
              <a:rPr b="1" lang="en-US" sz="3600">
                <a:solidFill>
                  <a:schemeClr val="accent6"/>
                </a:solidFill>
                <a:latin typeface="Plus Jakarta Sans"/>
                <a:ea typeface="Plus Jakarta Sans"/>
                <a:cs typeface="Plus Jakarta Sans"/>
                <a:sym typeface="Plus Jakarta Sans"/>
              </a:rPr>
              <a:t>Empfehlung</a:t>
            </a:r>
            <a:endParaRPr>
              <a:solidFill>
                <a:schemeClr val="accent6"/>
              </a:solidFill>
            </a:endParaRPr>
          </a:p>
        </p:txBody>
      </p:sp>
      <p:pic>
        <p:nvPicPr>
          <p:cNvPr id="109" name="Google Shape;109;p15"/>
          <p:cNvPicPr preferRelativeResize="0"/>
          <p:nvPr/>
        </p:nvPicPr>
        <p:blipFill>
          <a:blip r:embed="rId5">
            <a:alphaModFix/>
          </a:blip>
          <a:stretch>
            <a:fillRect/>
          </a:stretch>
        </p:blipFill>
        <p:spPr>
          <a:xfrm>
            <a:off x="10299805" y="330097"/>
            <a:ext cx="1139417" cy="285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pic>
        <p:nvPicPr>
          <p:cNvPr descr="image.png" id="114" name="Google Shape;114;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5" name="Google Shape;115;p16"/>
          <p:cNvSpPr txBox="1"/>
          <p:nvPr/>
        </p:nvSpPr>
        <p:spPr>
          <a:xfrm>
            <a:off x="952500" y="5576887"/>
            <a:ext cx="10287000" cy="5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i="1" lang="en-US" sz="1500">
                <a:solidFill>
                  <a:srgbClr val="6B7280"/>
                </a:solidFill>
                <a:latin typeface="Plus Jakarta Sans"/>
                <a:ea typeface="Plus Jakarta Sans"/>
                <a:cs typeface="Plus Jakarta Sans"/>
                <a:sym typeface="Plus Jakarta Sans"/>
              </a:rPr>
              <a:t>Wir sind in einer 'Rabatt-Falle'. Der reguläre Preis (hier Orange)  ist in unserem aktuellen Portfolio kaum noch sichtbar.</a:t>
            </a:r>
            <a:endParaRPr/>
          </a:p>
        </p:txBody>
      </p:sp>
      <p:sp>
        <p:nvSpPr>
          <p:cNvPr id="116" name="Google Shape;116;p16"/>
          <p:cNvSpPr txBox="1"/>
          <p:nvPr/>
        </p:nvSpPr>
        <p:spPr>
          <a:xfrm>
            <a:off x="952500" y="762000"/>
            <a:ext cx="36954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Rabatt-</a:t>
            </a:r>
            <a:endParaRPr b="1" sz="3600">
              <a:solidFill>
                <a:srgbClr val="111827"/>
              </a:solidFill>
              <a:latin typeface="Plus Jakarta Sans"/>
              <a:ea typeface="Plus Jakarta Sans"/>
              <a:cs typeface="Plus Jakarta Sans"/>
              <a:sym typeface="Plus Jakarta Sans"/>
            </a:endParaRPr>
          </a:p>
          <a:p>
            <a:pPr indent="0" lvl="0" marL="0" marR="0" rtl="0" algn="l">
              <a:spcBef>
                <a:spcPts val="0"/>
              </a:spcBef>
              <a:spcAft>
                <a:spcPts val="0"/>
              </a:spcAft>
              <a:buNone/>
            </a:pPr>
            <a:r>
              <a:rPr b="1" lang="en-US" sz="3600">
                <a:solidFill>
                  <a:schemeClr val="accent6"/>
                </a:solidFill>
                <a:latin typeface="Plus Jakarta Sans"/>
                <a:ea typeface="Plus Jakarta Sans"/>
                <a:cs typeface="Plus Jakarta Sans"/>
                <a:sym typeface="Plus Jakarta Sans"/>
              </a:rPr>
              <a:t>Verhältnis</a:t>
            </a:r>
            <a:endParaRPr>
              <a:solidFill>
                <a:schemeClr val="accent6"/>
              </a:solidFill>
            </a:endParaRPr>
          </a:p>
        </p:txBody>
      </p:sp>
      <p:pic>
        <p:nvPicPr>
          <p:cNvPr id="117" name="Google Shape;117;p16"/>
          <p:cNvPicPr preferRelativeResize="0"/>
          <p:nvPr/>
        </p:nvPicPr>
        <p:blipFill>
          <a:blip r:embed="rId4">
            <a:alphaModFix/>
          </a:blip>
          <a:stretch>
            <a:fillRect/>
          </a:stretch>
        </p:blipFill>
        <p:spPr>
          <a:xfrm>
            <a:off x="10299805" y="330097"/>
            <a:ext cx="1139417" cy="285750"/>
          </a:xfrm>
          <a:prstGeom prst="rect">
            <a:avLst/>
          </a:prstGeom>
          <a:noFill/>
          <a:ln>
            <a:noFill/>
          </a:ln>
        </p:spPr>
      </p:pic>
      <p:pic>
        <p:nvPicPr>
          <p:cNvPr id="118" name="Google Shape;118;p16"/>
          <p:cNvPicPr preferRelativeResize="0"/>
          <p:nvPr/>
        </p:nvPicPr>
        <p:blipFill>
          <a:blip r:embed="rId5">
            <a:alphaModFix/>
          </a:blip>
          <a:stretch>
            <a:fillRect/>
          </a:stretch>
        </p:blipFill>
        <p:spPr>
          <a:xfrm>
            <a:off x="3764975" y="1047750"/>
            <a:ext cx="7747373" cy="4345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17"/>
          <p:cNvSpPr txBox="1"/>
          <p:nvPr/>
        </p:nvSpPr>
        <p:spPr>
          <a:xfrm>
            <a:off x="8991225" y="1551800"/>
            <a:ext cx="50007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111827"/>
                </a:solidFill>
                <a:latin typeface="Plus Jakarta Sans"/>
                <a:ea typeface="Plus Jakarta Sans"/>
                <a:cs typeface="Plus Jakarta Sans"/>
                <a:sym typeface="Plus Jakarta Sans"/>
              </a:rPr>
              <a:t>Die Datenlage:</a:t>
            </a:r>
            <a:endParaRPr/>
          </a:p>
        </p:txBody>
      </p:sp>
      <p:sp>
        <p:nvSpPr>
          <p:cNvPr id="124" name="Google Shape;124;p17"/>
          <p:cNvSpPr txBox="1"/>
          <p:nvPr/>
        </p:nvSpPr>
        <p:spPr>
          <a:xfrm>
            <a:off x="8775600" y="1983800"/>
            <a:ext cx="3191100" cy="3186300"/>
          </a:xfrm>
          <a:prstGeom prst="rect">
            <a:avLst/>
          </a:prstGeom>
          <a:noFill/>
          <a:ln>
            <a:noFill/>
          </a:ln>
        </p:spPr>
        <p:txBody>
          <a:bodyPr anchorCtr="0" anchor="t" bIns="0" lIns="0" spcFirstLastPara="1" rIns="0" wrap="square" tIns="0">
            <a:spAutoFit/>
          </a:bodyPr>
          <a:lstStyle/>
          <a:p>
            <a:pPr indent="-349250" lvl="0" marL="457200" rtl="0" algn="l">
              <a:lnSpc>
                <a:spcPct val="150000"/>
              </a:lnSpc>
              <a:spcBef>
                <a:spcPts val="0"/>
              </a:spcBef>
              <a:spcAft>
                <a:spcPts val="0"/>
              </a:spcAft>
              <a:buClr>
                <a:srgbClr val="4B5563"/>
              </a:buClr>
              <a:buSzPts val="1900"/>
              <a:buFont typeface="Plus Jakarta Sans"/>
              <a:buChar char="●"/>
            </a:pPr>
            <a:r>
              <a:rPr lang="en-US" sz="1500">
                <a:solidFill>
                  <a:schemeClr val="dk1"/>
                </a:solidFill>
              </a:rPr>
              <a:t>Höhere Rabatte haben einen signifikant geringeren durchschnittlichen Transaktionswert.</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349250" lvl="0" marL="457200" rtl="0" algn="l">
              <a:lnSpc>
                <a:spcPct val="150000"/>
              </a:lnSpc>
              <a:spcBef>
                <a:spcPts val="0"/>
              </a:spcBef>
              <a:spcAft>
                <a:spcPts val="0"/>
              </a:spcAft>
              <a:buClr>
                <a:srgbClr val="4B5563"/>
              </a:buClr>
              <a:buSzPts val="1900"/>
              <a:buFont typeface="Plus Jakarta Sans"/>
              <a:buChar char="●"/>
            </a:pPr>
            <a:r>
              <a:rPr lang="en-US" sz="1500">
                <a:solidFill>
                  <a:schemeClr val="dk1"/>
                </a:solidFill>
              </a:rPr>
              <a:t>Erosion: Bei Rabattstufen über 30 % halbiert sich der durchschnittliche Umsatz pro Transaktion nahezu.</a:t>
            </a:r>
            <a:endParaRPr sz="1900">
              <a:solidFill>
                <a:srgbClr val="4B5563"/>
              </a:solidFill>
              <a:latin typeface="Plus Jakarta Sans"/>
              <a:ea typeface="Plus Jakarta Sans"/>
              <a:cs typeface="Plus Jakarta Sans"/>
              <a:sym typeface="Plus Jakarta Sans"/>
            </a:endParaRPr>
          </a:p>
        </p:txBody>
      </p:sp>
      <p:sp>
        <p:nvSpPr>
          <p:cNvPr id="125" name="Google Shape;125;p17"/>
          <p:cNvSpPr txBox="1"/>
          <p:nvPr/>
        </p:nvSpPr>
        <p:spPr>
          <a:xfrm>
            <a:off x="952500" y="762000"/>
            <a:ext cx="6361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Doch lohnt sich der </a:t>
            </a:r>
            <a:r>
              <a:rPr b="1" lang="en-US" sz="3600">
                <a:solidFill>
                  <a:schemeClr val="accent6"/>
                </a:solidFill>
                <a:latin typeface="Plus Jakarta Sans"/>
                <a:ea typeface="Plus Jakarta Sans"/>
                <a:cs typeface="Plus Jakarta Sans"/>
                <a:sym typeface="Plus Jakarta Sans"/>
              </a:rPr>
              <a:t>Rabatt</a:t>
            </a:r>
            <a:r>
              <a:rPr b="1" lang="en-US" sz="3600">
                <a:solidFill>
                  <a:srgbClr val="111827"/>
                </a:solidFill>
                <a:latin typeface="Plus Jakarta Sans"/>
                <a:ea typeface="Plus Jakarta Sans"/>
                <a:cs typeface="Plus Jakarta Sans"/>
                <a:sym typeface="Plus Jakarta Sans"/>
              </a:rPr>
              <a:t>?</a:t>
            </a:r>
            <a:endParaRPr>
              <a:solidFill>
                <a:schemeClr val="accent6"/>
              </a:solidFill>
            </a:endParaRPr>
          </a:p>
        </p:txBody>
      </p:sp>
      <p:pic>
        <p:nvPicPr>
          <p:cNvPr id="126" name="Google Shape;126;p17"/>
          <p:cNvPicPr preferRelativeResize="0"/>
          <p:nvPr/>
        </p:nvPicPr>
        <p:blipFill>
          <a:blip r:embed="rId4">
            <a:alphaModFix/>
          </a:blip>
          <a:stretch>
            <a:fillRect/>
          </a:stretch>
        </p:blipFill>
        <p:spPr>
          <a:xfrm>
            <a:off x="10299805" y="330097"/>
            <a:ext cx="1139417" cy="285750"/>
          </a:xfrm>
          <a:prstGeom prst="rect">
            <a:avLst/>
          </a:prstGeom>
          <a:noFill/>
          <a:ln>
            <a:noFill/>
          </a:ln>
        </p:spPr>
      </p:pic>
      <p:pic>
        <p:nvPicPr>
          <p:cNvPr id="127" name="Google Shape;127;p17" title="Screenshot 2026-07-13 at 14.49.49.png"/>
          <p:cNvPicPr preferRelativeResize="0"/>
          <p:nvPr/>
        </p:nvPicPr>
        <p:blipFill>
          <a:blip r:embed="rId5">
            <a:alphaModFix/>
          </a:blip>
          <a:stretch>
            <a:fillRect/>
          </a:stretch>
        </p:blipFill>
        <p:spPr>
          <a:xfrm>
            <a:off x="527535" y="1612498"/>
            <a:ext cx="8248074" cy="4815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18"/>
          <p:cNvSpPr txBox="1"/>
          <p:nvPr/>
        </p:nvSpPr>
        <p:spPr>
          <a:xfrm>
            <a:off x="8819750" y="1965863"/>
            <a:ext cx="3142800" cy="42723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b="1" lang="en-US" sz="1700">
                <a:solidFill>
                  <a:schemeClr val="dk1"/>
                </a:solidFill>
              </a:rPr>
              <a:t>Performance-Analyse:</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März/April 2017:</a:t>
            </a:r>
            <a:r>
              <a:rPr lang="en-US" sz="1700">
                <a:solidFill>
                  <a:schemeClr val="dk1"/>
                </a:solidFill>
              </a:rPr>
              <a:t> Rabatt-Aktionen blieben ohne messbaren Effekt auf den Umsatz.</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Juni/Juli 2017:</a:t>
            </a:r>
            <a:r>
              <a:rPr lang="en-US" sz="1700">
                <a:solidFill>
                  <a:schemeClr val="dk1"/>
                </a:solidFill>
              </a:rPr>
              <a:t> Höhere Rabatt-Frequenz steigerte zwar die Bestellmenge, jedoch nicht den Gesamtumsatz.</a:t>
            </a:r>
            <a:endParaRPr sz="1900">
              <a:solidFill>
                <a:schemeClr val="dk1"/>
              </a:solidFill>
            </a:endParaRPr>
          </a:p>
          <a:p>
            <a:pPr indent="0" lvl="0" marL="0" rtl="0" algn="l">
              <a:lnSpc>
                <a:spcPct val="115000"/>
              </a:lnSpc>
              <a:spcBef>
                <a:spcPts val="1200"/>
              </a:spcBef>
              <a:spcAft>
                <a:spcPts val="0"/>
              </a:spcAft>
              <a:buSzPts val="1100"/>
              <a:buNone/>
            </a:pPr>
            <a:r>
              <a:rPr b="1" lang="en-US" sz="1700">
                <a:solidFill>
                  <a:schemeClr val="dk1"/>
                </a:solidFill>
              </a:rPr>
              <a:t>Fazit:</a:t>
            </a:r>
            <a:r>
              <a:rPr lang="en-US" sz="1700">
                <a:solidFill>
                  <a:schemeClr val="dk1"/>
                </a:solidFill>
              </a:rPr>
              <a:t> Umsatzwachstum ist unabhängig von der Rabatt-Intensität.</a:t>
            </a:r>
            <a:endParaRPr sz="2100">
              <a:solidFill>
                <a:srgbClr val="4B5563"/>
              </a:solidFill>
              <a:latin typeface="Plus Jakarta Sans"/>
              <a:ea typeface="Plus Jakarta Sans"/>
              <a:cs typeface="Plus Jakarta Sans"/>
              <a:sym typeface="Plus Jakarta Sans"/>
            </a:endParaRPr>
          </a:p>
        </p:txBody>
      </p:sp>
      <p:sp>
        <p:nvSpPr>
          <p:cNvPr id="133" name="Google Shape;133;p18"/>
          <p:cNvSpPr txBox="1"/>
          <p:nvPr/>
        </p:nvSpPr>
        <p:spPr>
          <a:xfrm>
            <a:off x="736350" y="733175"/>
            <a:ext cx="94317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Rabatte vs. Umsatz – </a:t>
            </a:r>
            <a:r>
              <a:rPr b="1" lang="en-US" sz="3600">
                <a:solidFill>
                  <a:schemeClr val="accent6"/>
                </a:solidFill>
                <a:latin typeface="Plus Jakarta Sans"/>
                <a:ea typeface="Plus Jakarta Sans"/>
                <a:cs typeface="Plus Jakarta Sans"/>
                <a:sym typeface="Plus Jakarta Sans"/>
              </a:rPr>
              <a:t>Ein Mythos</a:t>
            </a:r>
            <a:r>
              <a:rPr b="1" lang="en-US" sz="3600">
                <a:solidFill>
                  <a:schemeClr val="dk1"/>
                </a:solidFill>
                <a:latin typeface="Plus Jakarta Sans"/>
                <a:ea typeface="Plus Jakarta Sans"/>
                <a:cs typeface="Plus Jakarta Sans"/>
                <a:sym typeface="Plus Jakarta Sans"/>
              </a:rPr>
              <a:t>?</a:t>
            </a:r>
            <a:endParaRPr>
              <a:solidFill>
                <a:schemeClr val="dk1"/>
              </a:solidFill>
            </a:endParaRPr>
          </a:p>
        </p:txBody>
      </p:sp>
      <p:pic>
        <p:nvPicPr>
          <p:cNvPr id="134" name="Google Shape;134;p18"/>
          <p:cNvPicPr preferRelativeResize="0"/>
          <p:nvPr/>
        </p:nvPicPr>
        <p:blipFill>
          <a:blip r:embed="rId4">
            <a:alphaModFix/>
          </a:blip>
          <a:stretch>
            <a:fillRect/>
          </a:stretch>
        </p:blipFill>
        <p:spPr>
          <a:xfrm>
            <a:off x="10299805" y="330097"/>
            <a:ext cx="1139417" cy="285750"/>
          </a:xfrm>
          <a:prstGeom prst="rect">
            <a:avLst/>
          </a:prstGeom>
          <a:noFill/>
          <a:ln>
            <a:noFill/>
          </a:ln>
        </p:spPr>
      </p:pic>
      <p:pic>
        <p:nvPicPr>
          <p:cNvPr id="135" name="Google Shape;135;p18" title="Screenshot 2026-07-13 at 15.00.35.png"/>
          <p:cNvPicPr preferRelativeResize="0"/>
          <p:nvPr/>
        </p:nvPicPr>
        <p:blipFill>
          <a:blip r:embed="rId5">
            <a:alphaModFix/>
          </a:blip>
          <a:stretch>
            <a:fillRect/>
          </a:stretch>
        </p:blipFill>
        <p:spPr>
          <a:xfrm>
            <a:off x="152400" y="1439675"/>
            <a:ext cx="8667351" cy="5049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39" name="Shape 139"/>
        <p:cNvGrpSpPr/>
        <p:nvPr/>
      </p:nvGrpSpPr>
      <p:grpSpPr>
        <a:xfrm>
          <a:off x="0" y="0"/>
          <a:ext cx="0" cy="0"/>
          <a:chOff x="0" y="0"/>
          <a:chExt cx="0" cy="0"/>
        </a:xfrm>
      </p:grpSpPr>
      <p:pic>
        <p:nvPicPr>
          <p:cNvPr descr="image.png" id="140" name="Google Shape;140;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 name="Google Shape;141;p19"/>
          <p:cNvSpPr txBox="1"/>
          <p:nvPr/>
        </p:nvSpPr>
        <p:spPr>
          <a:xfrm>
            <a:off x="952500" y="5576887"/>
            <a:ext cx="10287000" cy="5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i="1" lang="en-US" sz="1500">
                <a:solidFill>
                  <a:srgbClr val="6B7280"/>
                </a:solidFill>
                <a:latin typeface="Plus Jakarta Sans"/>
                <a:ea typeface="Plus Jakarta Sans"/>
                <a:cs typeface="Plus Jakarta Sans"/>
                <a:sym typeface="Plus Jakarta Sans"/>
              </a:rPr>
              <a:t>Wir setzen gezielte Rabatt-Maßnahmen basierend auf der Kategorien-Sensitivität ein, um den Absatz in unseren Wachstumssegmenten aktiv und profitabel zu stimulieren.</a:t>
            </a:r>
            <a:endParaRPr/>
          </a:p>
        </p:txBody>
      </p:sp>
      <p:sp>
        <p:nvSpPr>
          <p:cNvPr id="142" name="Google Shape;142;p19"/>
          <p:cNvSpPr txBox="1"/>
          <p:nvPr/>
        </p:nvSpPr>
        <p:spPr>
          <a:xfrm>
            <a:off x="952500" y="762000"/>
            <a:ext cx="5724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Performance-</a:t>
            </a:r>
            <a:r>
              <a:rPr b="1" lang="en-US" sz="3600">
                <a:solidFill>
                  <a:schemeClr val="accent6"/>
                </a:solidFill>
                <a:latin typeface="Plus Jakarta Sans"/>
                <a:ea typeface="Plus Jakarta Sans"/>
                <a:cs typeface="Plus Jakarta Sans"/>
                <a:sym typeface="Plus Jakarta Sans"/>
              </a:rPr>
              <a:t>Spitze</a:t>
            </a:r>
            <a:endParaRPr>
              <a:solidFill>
                <a:schemeClr val="accent6"/>
              </a:solidFill>
            </a:endParaRPr>
          </a:p>
        </p:txBody>
      </p:sp>
      <p:pic>
        <p:nvPicPr>
          <p:cNvPr id="143" name="Google Shape;143;p19"/>
          <p:cNvPicPr preferRelativeResize="0"/>
          <p:nvPr/>
        </p:nvPicPr>
        <p:blipFill>
          <a:blip r:embed="rId4">
            <a:alphaModFix/>
          </a:blip>
          <a:stretch>
            <a:fillRect/>
          </a:stretch>
        </p:blipFill>
        <p:spPr>
          <a:xfrm>
            <a:off x="10299805" y="330097"/>
            <a:ext cx="1139417" cy="285750"/>
          </a:xfrm>
          <a:prstGeom prst="rect">
            <a:avLst/>
          </a:prstGeom>
          <a:noFill/>
          <a:ln>
            <a:noFill/>
          </a:ln>
        </p:spPr>
      </p:pic>
      <p:pic>
        <p:nvPicPr>
          <p:cNvPr id="144" name="Google Shape;144;p19"/>
          <p:cNvPicPr preferRelativeResize="0"/>
          <p:nvPr/>
        </p:nvPicPr>
        <p:blipFill>
          <a:blip r:embed="rId5">
            <a:alphaModFix/>
          </a:blip>
          <a:stretch>
            <a:fillRect/>
          </a:stretch>
        </p:blipFill>
        <p:spPr>
          <a:xfrm>
            <a:off x="633200" y="2499050"/>
            <a:ext cx="5276249" cy="2064825"/>
          </a:xfrm>
          <a:prstGeom prst="rect">
            <a:avLst/>
          </a:prstGeom>
          <a:noFill/>
          <a:ln>
            <a:noFill/>
          </a:ln>
        </p:spPr>
      </p:pic>
      <p:pic>
        <p:nvPicPr>
          <p:cNvPr id="145" name="Google Shape;145;p19"/>
          <p:cNvPicPr preferRelativeResize="0"/>
          <p:nvPr/>
        </p:nvPicPr>
        <p:blipFill>
          <a:blip r:embed="rId6">
            <a:alphaModFix/>
          </a:blip>
          <a:stretch>
            <a:fillRect/>
          </a:stretch>
        </p:blipFill>
        <p:spPr>
          <a:xfrm>
            <a:off x="5909450" y="2469238"/>
            <a:ext cx="5276250" cy="19544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1" name="Google Shape;151;p20"/>
          <p:cNvSpPr txBox="1"/>
          <p:nvPr/>
        </p:nvSpPr>
        <p:spPr>
          <a:xfrm>
            <a:off x="952500" y="5576887"/>
            <a:ext cx="10287000" cy="5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i="1" lang="en-US" sz="1500">
                <a:solidFill>
                  <a:srgbClr val="6B7280"/>
                </a:solidFill>
                <a:latin typeface="Plus Jakarta Sans"/>
                <a:ea typeface="Plus Jakarta Sans"/>
                <a:cs typeface="Plus Jakarta Sans"/>
                <a:sym typeface="Plus Jakarta Sans"/>
              </a:rPr>
              <a:t>Diese Kategorien bilden das Rückgrat unseres Umsatzes. Sie sind unsere Priorität für die kommende Pricing-Strategie und Margenoptimierung.</a:t>
            </a:r>
            <a:endParaRPr/>
          </a:p>
        </p:txBody>
      </p:sp>
      <p:sp>
        <p:nvSpPr>
          <p:cNvPr id="152" name="Google Shape;152;p20"/>
          <p:cNvSpPr txBox="1"/>
          <p:nvPr/>
        </p:nvSpPr>
        <p:spPr>
          <a:xfrm>
            <a:off x="952500" y="762000"/>
            <a:ext cx="1061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Unsere Umsatzstärksten </a:t>
            </a:r>
            <a:r>
              <a:rPr b="1" lang="en-US" sz="3600">
                <a:solidFill>
                  <a:schemeClr val="accent6"/>
                </a:solidFill>
                <a:latin typeface="Plus Jakarta Sans"/>
                <a:ea typeface="Plus Jakarta Sans"/>
                <a:cs typeface="Plus Jakarta Sans"/>
                <a:sym typeface="Plus Jakarta Sans"/>
              </a:rPr>
              <a:t>Produktkategorien</a:t>
            </a:r>
            <a:endParaRPr>
              <a:solidFill>
                <a:schemeClr val="accent6"/>
              </a:solidFill>
            </a:endParaRPr>
          </a:p>
        </p:txBody>
      </p:sp>
      <p:pic>
        <p:nvPicPr>
          <p:cNvPr id="153" name="Google Shape;153;p20"/>
          <p:cNvPicPr preferRelativeResize="0"/>
          <p:nvPr/>
        </p:nvPicPr>
        <p:blipFill>
          <a:blip r:embed="rId4">
            <a:alphaModFix/>
          </a:blip>
          <a:stretch>
            <a:fillRect/>
          </a:stretch>
        </p:blipFill>
        <p:spPr>
          <a:xfrm>
            <a:off x="10299805" y="330097"/>
            <a:ext cx="1139417" cy="285750"/>
          </a:xfrm>
          <a:prstGeom prst="rect">
            <a:avLst/>
          </a:prstGeom>
          <a:noFill/>
          <a:ln>
            <a:noFill/>
          </a:ln>
        </p:spPr>
      </p:pic>
      <p:pic>
        <p:nvPicPr>
          <p:cNvPr id="154" name="Google Shape;154;p20"/>
          <p:cNvPicPr preferRelativeResize="0"/>
          <p:nvPr/>
        </p:nvPicPr>
        <p:blipFill>
          <a:blip r:embed="rId5">
            <a:alphaModFix/>
          </a:blip>
          <a:stretch>
            <a:fillRect/>
          </a:stretch>
        </p:blipFill>
        <p:spPr>
          <a:xfrm>
            <a:off x="1142160" y="1381125"/>
            <a:ext cx="9705975" cy="4095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descr="image.png" id="159" name="Google Shape;159;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0" name="Google Shape;160;p21"/>
          <p:cNvSpPr txBox="1"/>
          <p:nvPr/>
        </p:nvSpPr>
        <p:spPr>
          <a:xfrm>
            <a:off x="7022650" y="1564000"/>
            <a:ext cx="4791600" cy="5033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US" sz="1600">
                <a:solidFill>
                  <a:schemeClr val="dk1"/>
                </a:solidFill>
              </a:rPr>
              <a:t>Differenzierte Preissteuerung:</a:t>
            </a:r>
            <a:r>
              <a:rPr lang="en-US" sz="1600">
                <a:solidFill>
                  <a:schemeClr val="dk1"/>
                </a:solidFill>
              </a:rPr>
              <a:t> Kategorien reagieren unterschiedlich auf Rabatt-Impulse.</a:t>
            </a:r>
            <a:endParaRPr sz="1600">
              <a:solidFill>
                <a:schemeClr val="dk1"/>
              </a:solidFill>
            </a:endParaRPr>
          </a:p>
          <a:p>
            <a:pPr indent="0" lvl="0" marL="0" rtl="0" algn="l">
              <a:lnSpc>
                <a:spcPct val="150000"/>
              </a:lnSpc>
              <a:spcBef>
                <a:spcPts val="0"/>
              </a:spcBef>
              <a:spcAft>
                <a:spcPts val="0"/>
              </a:spcAft>
              <a:buNone/>
            </a:pPr>
            <a:r>
              <a:t/>
            </a:r>
            <a:endParaRPr sz="1600">
              <a:solidFill>
                <a:schemeClr val="dk1"/>
              </a:solidFill>
            </a:endParaRPr>
          </a:p>
          <a:p>
            <a:pPr indent="-330200" lvl="0" marL="457200" rtl="0" algn="l">
              <a:lnSpc>
                <a:spcPct val="150000"/>
              </a:lnSpc>
              <a:spcBef>
                <a:spcPts val="0"/>
              </a:spcBef>
              <a:spcAft>
                <a:spcPts val="0"/>
              </a:spcAft>
              <a:buSzPts val="1600"/>
              <a:buChar char="●"/>
            </a:pPr>
            <a:r>
              <a:rPr b="1" lang="en-US" sz="1600">
                <a:solidFill>
                  <a:schemeClr val="dk1"/>
                </a:solidFill>
              </a:rPr>
              <a:t>Wachstumshebel (</a:t>
            </a:r>
            <a:r>
              <a:rPr b="1" lang="en-US" sz="1600">
                <a:solidFill>
                  <a:schemeClr val="accent6"/>
                </a:solidFill>
              </a:rPr>
              <a:t>Orange</a:t>
            </a:r>
            <a:r>
              <a:rPr b="1" lang="en-US" sz="1600">
                <a:solidFill>
                  <a:schemeClr val="dk1"/>
                </a:solidFill>
              </a:rPr>
              <a:t>):</a:t>
            </a:r>
            <a:r>
              <a:rPr lang="en-US" sz="1600">
                <a:solidFill>
                  <a:schemeClr val="dk1"/>
                </a:solidFill>
              </a:rPr>
              <a:t> Fokus auf Produkte wie </a:t>
            </a:r>
            <a:r>
              <a:rPr i="1" lang="en-US" sz="1600">
                <a:solidFill>
                  <a:schemeClr val="dk1"/>
                </a:solidFill>
              </a:rPr>
              <a:t>Headphones</a:t>
            </a:r>
            <a:r>
              <a:rPr lang="en-US" sz="1600">
                <a:solidFill>
                  <a:schemeClr val="dk1"/>
                </a:solidFill>
              </a:rPr>
              <a:t> und </a:t>
            </a:r>
            <a:r>
              <a:rPr i="1" lang="en-US" sz="1600">
                <a:solidFill>
                  <a:schemeClr val="dk1"/>
                </a:solidFill>
              </a:rPr>
              <a:t>Monitors</a:t>
            </a:r>
            <a:r>
              <a:rPr lang="en-US" sz="1600">
                <a:solidFill>
                  <a:schemeClr val="dk1"/>
                </a:solidFill>
              </a:rPr>
              <a:t> – hier treibt Rabatt den Absatz messbar.</a:t>
            </a:r>
            <a:endParaRPr sz="1600">
              <a:solidFill>
                <a:schemeClr val="dk1"/>
              </a:solidFill>
            </a:endParaRPr>
          </a:p>
          <a:p>
            <a:pPr indent="-330200" lvl="0" marL="457200" rtl="0" algn="l">
              <a:lnSpc>
                <a:spcPct val="150000"/>
              </a:lnSpc>
              <a:spcBef>
                <a:spcPts val="0"/>
              </a:spcBef>
              <a:spcAft>
                <a:spcPts val="0"/>
              </a:spcAft>
              <a:buSzPts val="1600"/>
              <a:buChar char="●"/>
            </a:pPr>
            <a:r>
              <a:rPr b="1" lang="en-US" sz="1600">
                <a:solidFill>
                  <a:schemeClr val="dk1"/>
                </a:solidFill>
              </a:rPr>
              <a:t>Margenschutz (</a:t>
            </a:r>
            <a:r>
              <a:rPr b="1" lang="en-US" sz="1600">
                <a:solidFill>
                  <a:srgbClr val="888888"/>
                </a:solidFill>
              </a:rPr>
              <a:t>Grau</a:t>
            </a:r>
            <a:r>
              <a:rPr b="1" lang="en-US" sz="1600">
                <a:solidFill>
                  <a:schemeClr val="dk1"/>
                </a:solidFill>
              </a:rPr>
              <a:t>):</a:t>
            </a:r>
            <a:r>
              <a:rPr lang="en-US" sz="1600">
                <a:solidFill>
                  <a:schemeClr val="dk1"/>
                </a:solidFill>
              </a:rPr>
              <a:t> Bei Produkten wie </a:t>
            </a:r>
            <a:r>
              <a:rPr i="1" lang="en-US" sz="1600">
                <a:solidFill>
                  <a:schemeClr val="dk1"/>
                </a:solidFill>
              </a:rPr>
              <a:t>Keyboards</a:t>
            </a:r>
            <a:r>
              <a:rPr lang="en-US" sz="1600">
                <a:solidFill>
                  <a:schemeClr val="dk1"/>
                </a:solidFill>
              </a:rPr>
              <a:t> oder </a:t>
            </a:r>
            <a:r>
              <a:rPr i="1" lang="en-US" sz="1600">
                <a:solidFill>
                  <a:schemeClr val="dk1"/>
                </a:solidFill>
              </a:rPr>
              <a:t>RAM</a:t>
            </a:r>
            <a:r>
              <a:rPr lang="en-US" sz="1600">
                <a:solidFill>
                  <a:schemeClr val="dk1"/>
                </a:solidFill>
              </a:rPr>
              <a:t> wirkt Rabattierung kontraproduktiv (Negativ-Sensitivität) – hier Preis stabil halten.</a:t>
            </a:r>
            <a:endParaRPr sz="1600">
              <a:solidFill>
                <a:schemeClr val="dk1"/>
              </a:solidFill>
            </a:endParaRPr>
          </a:p>
          <a:p>
            <a:pPr indent="0" lvl="0" marL="0" rtl="0" algn="l">
              <a:lnSpc>
                <a:spcPct val="150000"/>
              </a:lnSpc>
              <a:spcBef>
                <a:spcPts val="0"/>
              </a:spcBef>
              <a:spcAft>
                <a:spcPts val="0"/>
              </a:spcAft>
              <a:buNone/>
            </a:pPr>
            <a:r>
              <a:t/>
            </a:r>
            <a:endParaRPr b="1" sz="1600">
              <a:solidFill>
                <a:schemeClr val="dk1"/>
              </a:solidFill>
            </a:endParaRPr>
          </a:p>
          <a:p>
            <a:pPr indent="0" lvl="0" marL="0" rtl="0" algn="l">
              <a:lnSpc>
                <a:spcPct val="150000"/>
              </a:lnSpc>
              <a:spcBef>
                <a:spcPts val="0"/>
              </a:spcBef>
              <a:spcAft>
                <a:spcPts val="0"/>
              </a:spcAft>
              <a:buNone/>
            </a:pPr>
            <a:r>
              <a:rPr b="1" lang="en-US" sz="1600">
                <a:solidFill>
                  <a:schemeClr val="dk1"/>
                </a:solidFill>
              </a:rPr>
              <a:t>Fazit:</a:t>
            </a:r>
            <a:r>
              <a:rPr lang="en-US" sz="1600">
                <a:solidFill>
                  <a:schemeClr val="dk1"/>
                </a:solidFill>
              </a:rPr>
              <a:t> Maximierung des Absatzes durch gezielte Allokation der Discount-Budgets.</a:t>
            </a:r>
            <a:endParaRPr sz="1600">
              <a:solidFill>
                <a:schemeClr val="dk1"/>
              </a:solidFill>
            </a:endParaRPr>
          </a:p>
          <a:p>
            <a:pPr indent="0" lvl="0" marL="0" marR="0" rtl="0" algn="l">
              <a:lnSpc>
                <a:spcPct val="150000"/>
              </a:lnSpc>
              <a:spcBef>
                <a:spcPts val="0"/>
              </a:spcBef>
              <a:spcAft>
                <a:spcPts val="0"/>
              </a:spcAft>
              <a:buNone/>
            </a:pPr>
            <a:r>
              <a:t/>
            </a:r>
            <a:endParaRPr sz="1500">
              <a:solidFill>
                <a:srgbClr val="4B5563"/>
              </a:solidFill>
              <a:latin typeface="Plus Jakarta Sans"/>
              <a:ea typeface="Plus Jakarta Sans"/>
              <a:cs typeface="Plus Jakarta Sans"/>
              <a:sym typeface="Plus Jakarta Sans"/>
            </a:endParaRPr>
          </a:p>
        </p:txBody>
      </p:sp>
      <p:sp>
        <p:nvSpPr>
          <p:cNvPr id="161" name="Google Shape;161;p21"/>
          <p:cNvSpPr txBox="1"/>
          <p:nvPr/>
        </p:nvSpPr>
        <p:spPr>
          <a:xfrm>
            <a:off x="952500" y="762000"/>
            <a:ext cx="83487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Pricing-Sensitivität nach </a:t>
            </a:r>
            <a:r>
              <a:rPr b="1" lang="en-US" sz="3600">
                <a:solidFill>
                  <a:schemeClr val="accent6"/>
                </a:solidFill>
                <a:latin typeface="Plus Jakarta Sans"/>
                <a:ea typeface="Plus Jakarta Sans"/>
                <a:cs typeface="Plus Jakarta Sans"/>
                <a:sym typeface="Plus Jakarta Sans"/>
              </a:rPr>
              <a:t>Kategorien</a:t>
            </a:r>
            <a:endParaRPr>
              <a:solidFill>
                <a:schemeClr val="accent6"/>
              </a:solidFill>
            </a:endParaRPr>
          </a:p>
        </p:txBody>
      </p:sp>
      <p:pic>
        <p:nvPicPr>
          <p:cNvPr id="162" name="Google Shape;162;p21"/>
          <p:cNvPicPr preferRelativeResize="0"/>
          <p:nvPr/>
        </p:nvPicPr>
        <p:blipFill>
          <a:blip r:embed="rId4">
            <a:alphaModFix/>
          </a:blip>
          <a:stretch>
            <a:fillRect/>
          </a:stretch>
        </p:blipFill>
        <p:spPr>
          <a:xfrm>
            <a:off x="10299805" y="330097"/>
            <a:ext cx="1139417" cy="285750"/>
          </a:xfrm>
          <a:prstGeom prst="rect">
            <a:avLst/>
          </a:prstGeom>
          <a:noFill/>
          <a:ln>
            <a:noFill/>
          </a:ln>
        </p:spPr>
      </p:pic>
      <p:sp>
        <p:nvSpPr>
          <p:cNvPr id="163" name="Google Shape;163;p21"/>
          <p:cNvSpPr/>
          <p:nvPr/>
        </p:nvSpPr>
        <p:spPr>
          <a:xfrm>
            <a:off x="4037494" y="4245083"/>
            <a:ext cx="1056900" cy="1056900"/>
          </a:xfrm>
          <a:prstGeom prst="ellipse">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64" name="Google Shape;164;p21"/>
          <p:cNvPicPr preferRelativeResize="0"/>
          <p:nvPr/>
        </p:nvPicPr>
        <p:blipFill>
          <a:blip r:embed="rId5">
            <a:alphaModFix/>
          </a:blip>
          <a:stretch>
            <a:fillRect/>
          </a:stretch>
        </p:blipFill>
        <p:spPr>
          <a:xfrm>
            <a:off x="112800" y="1679800"/>
            <a:ext cx="6742627" cy="43035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pic>
        <p:nvPicPr>
          <p:cNvPr descr="image.png" id="169" name="Google Shape;16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0" name="Google Shape;170;p22"/>
          <p:cNvPicPr preferRelativeResize="0"/>
          <p:nvPr/>
        </p:nvPicPr>
        <p:blipFill rotWithShape="1">
          <a:blip r:embed="rId4">
            <a:alphaModFix/>
          </a:blip>
          <a:srcRect b="0" l="0" r="0" t="0"/>
          <a:stretch/>
        </p:blipFill>
        <p:spPr>
          <a:xfrm>
            <a:off x="952500" y="2528887"/>
            <a:ext cx="10287000" cy="2952750"/>
          </a:xfrm>
          <a:prstGeom prst="rect">
            <a:avLst/>
          </a:prstGeom>
          <a:noFill/>
          <a:ln>
            <a:noFill/>
          </a:ln>
        </p:spPr>
      </p:pic>
      <p:sp>
        <p:nvSpPr>
          <p:cNvPr id="171" name="Google Shape;171;p22"/>
          <p:cNvSpPr txBox="1"/>
          <p:nvPr/>
        </p:nvSpPr>
        <p:spPr>
          <a:xfrm>
            <a:off x="1381125" y="2909887"/>
            <a:ext cx="9951300" cy="47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rPr b="1" lang="en-US" sz="3100">
                <a:solidFill>
                  <a:srgbClr val="111827"/>
                </a:solidFill>
                <a:latin typeface="Plus Jakarta Sans"/>
                <a:ea typeface="Plus Jakarta Sans"/>
                <a:cs typeface="Plus Jakarta Sans"/>
                <a:sym typeface="Plus Jakarta Sans"/>
              </a:rPr>
              <a:t>Beenden der unprofitablen Gießkannen-Rabatte</a:t>
            </a:r>
            <a:endParaRPr sz="3000">
              <a:solidFill>
                <a:schemeClr val="dk1"/>
              </a:solidFill>
            </a:endParaRPr>
          </a:p>
        </p:txBody>
      </p:sp>
      <p:sp>
        <p:nvSpPr>
          <p:cNvPr id="172" name="Google Shape;172;p22"/>
          <p:cNvSpPr txBox="1"/>
          <p:nvPr/>
        </p:nvSpPr>
        <p:spPr>
          <a:xfrm>
            <a:off x="1381125" y="3738562"/>
            <a:ext cx="8572500" cy="1200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950">
                <a:solidFill>
                  <a:srgbClr val="374151"/>
                </a:solidFill>
                <a:latin typeface="Plus Jakarta Sans"/>
                <a:ea typeface="Plus Jakarta Sans"/>
                <a:cs typeface="Plus Jakarta Sans"/>
                <a:sym typeface="Plus Jakarta Sans"/>
              </a:rPr>
              <a:t>Rabatte werden nur noch gezielt und zeitlich befristet dort eingesetzt, wo sie messbar den Absatz fördern, um unsere Margen langfristig zu schützen.</a:t>
            </a:r>
            <a:endParaRPr/>
          </a:p>
        </p:txBody>
      </p:sp>
      <p:sp>
        <p:nvSpPr>
          <p:cNvPr id="173" name="Google Shape;173;p22"/>
          <p:cNvSpPr txBox="1"/>
          <p:nvPr/>
        </p:nvSpPr>
        <p:spPr>
          <a:xfrm>
            <a:off x="952500" y="762000"/>
            <a:ext cx="52947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111827"/>
                </a:solidFill>
                <a:latin typeface="Plus Jakarta Sans"/>
                <a:ea typeface="Plus Jakarta Sans"/>
                <a:cs typeface="Plus Jakarta Sans"/>
                <a:sym typeface="Plus Jakarta Sans"/>
              </a:rPr>
              <a:t>Unser </a:t>
            </a:r>
            <a:r>
              <a:rPr b="1" lang="en-US" sz="3600">
                <a:solidFill>
                  <a:schemeClr val="accent6"/>
                </a:solidFill>
                <a:latin typeface="Plus Jakarta Sans"/>
                <a:ea typeface="Plus Jakarta Sans"/>
                <a:cs typeface="Plus Jakarta Sans"/>
                <a:sym typeface="Plus Jakarta Sans"/>
              </a:rPr>
              <a:t>Fazit</a:t>
            </a:r>
            <a:endParaRPr>
              <a:solidFill>
                <a:schemeClr val="accent6"/>
              </a:solidFill>
            </a:endParaRPr>
          </a:p>
        </p:txBody>
      </p:sp>
      <p:pic>
        <p:nvPicPr>
          <p:cNvPr id="174" name="Google Shape;174;p22"/>
          <p:cNvPicPr preferRelativeResize="0"/>
          <p:nvPr/>
        </p:nvPicPr>
        <p:blipFill>
          <a:blip r:embed="rId5">
            <a:alphaModFix/>
          </a:blip>
          <a:stretch>
            <a:fillRect/>
          </a:stretch>
        </p:blipFill>
        <p:spPr>
          <a:xfrm>
            <a:off x="10299805" y="330097"/>
            <a:ext cx="1139417" cy="285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